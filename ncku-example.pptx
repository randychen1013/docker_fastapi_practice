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E1E1E"/>
    <a:srgbClr val="F6F6F6"/>
    <a:srgbClr val="FFC79A"/>
    <a:srgbClr val="ADD8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35B1E4D-F83C-23BD-91F0-40B7A91A2F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8A69537E-A1B6-4409-2128-32D7EFF6E6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07AC4F6-0FBE-B498-6FC6-024E7E3E2A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36010-91A8-424F-B3F7-43CBC600EA7E}" type="datetimeFigureOut">
              <a:rPr lang="zh-TW" altLang="en-US" smtClean="0"/>
              <a:t>2026/6/24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FC3650A-E2E3-4FB6-A130-A71DE3E3CB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FEA13AC-16A4-ECDF-8B14-E32556A6BB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CA10A-3F33-4FA4-811C-D529FB34610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015977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6423476-1527-9DD9-BDB0-210B2F6FA2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FA8D8A7-85F8-F2D9-DAB1-060C774CA1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D111A8E-BD9E-3B35-B810-939B118BAA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36010-91A8-424F-B3F7-43CBC600EA7E}" type="datetimeFigureOut">
              <a:rPr lang="zh-TW" altLang="en-US" smtClean="0"/>
              <a:t>2026/6/24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FC06F0D-045F-76FB-8059-3C3EF18DE1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B13FDB7-D070-C2BE-FF43-B7E419853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CA10A-3F33-4FA4-811C-D529FB34610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922438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5D72CEC-0EA3-61CC-BE88-156F05583D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96EA31A-A2C1-1900-36B5-37F7C89164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4BC855F-6767-F857-F09B-F22D142E0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36010-91A8-424F-B3F7-43CBC600EA7E}" type="datetimeFigureOut">
              <a:rPr lang="zh-TW" altLang="en-US" smtClean="0"/>
              <a:t>2026/6/24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1526AE2-A1F7-73ED-7119-2C329FEC3E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E74C9B1-33F8-F4AA-68CE-2AD846AF6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CA10A-3F33-4FA4-811C-D529FB34610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980105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E97E673-25ED-8439-4F5F-67DFC768AF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CEBD34E-FD8E-D558-B6E2-E6EDFA5001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D75AA21E-8C5F-9321-5B01-0F061E5D75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48069E08-1996-48CF-6DB9-015ADA94AC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36010-91A8-424F-B3F7-43CBC600EA7E}" type="datetimeFigureOut">
              <a:rPr lang="zh-TW" altLang="en-US" smtClean="0"/>
              <a:t>2026/6/24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13C1E24-4B3E-0218-7F5A-60842270A1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7CD4BA1-246D-9D49-3C58-6CB1EDF24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CA10A-3F33-4FA4-811C-D529FB34610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200577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0D6936E-14BE-D022-D2FF-8ED7E28B14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0D73B2A-1E3F-D27C-F1F6-AF10876471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4DEA79E1-B9F5-B4F3-BB16-CAE36BE9A0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DE38652B-5045-6B9A-DA3B-156C139651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A8E504B9-23DB-BB19-400E-51380EA698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C857E528-5450-B482-F935-9F2F5547D2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36010-91A8-424F-B3F7-43CBC600EA7E}" type="datetimeFigureOut">
              <a:rPr lang="zh-TW" altLang="en-US" smtClean="0"/>
              <a:t>2026/6/24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0CD3313A-B53C-538E-B730-1B130BF00E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9FA09AE8-0224-B5F8-6494-D88C63C97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CA10A-3F33-4FA4-811C-D529FB34610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237965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6BE72E7-C230-9FBC-0A31-9C3FC1B1F4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933C0CCD-5757-F3FE-99FF-ADEAF8F504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36010-91A8-424F-B3F7-43CBC600EA7E}" type="datetimeFigureOut">
              <a:rPr lang="zh-TW" altLang="en-US" smtClean="0"/>
              <a:t>2026/6/24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0175A514-B074-CB44-5B1A-0B1D2A909E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D6537AE6-B722-74E1-38AA-E75CABD36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CA10A-3F33-4FA4-811C-D529FB34610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344280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2D9325E5-EA24-49E5-E7EB-9D532D9401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36010-91A8-424F-B3F7-43CBC600EA7E}" type="datetimeFigureOut">
              <a:rPr lang="zh-TW" altLang="en-US" smtClean="0"/>
              <a:t>2026/6/24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6CE93A09-692C-6E5D-CDA2-84FEBDF535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1F9039D-9516-A0CD-E666-D6EAAA0AA9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CA10A-3F33-4FA4-811C-D529FB34610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653769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82663B4-E325-A1C0-A15B-10440A3598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9C05855-0ED8-1B18-8154-857982C9DD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3B93BC76-E90E-8D86-C29C-3F19216F56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D5B723EC-F3CD-DF1C-B3A7-871228D561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36010-91A8-424F-B3F7-43CBC600EA7E}" type="datetimeFigureOut">
              <a:rPr lang="zh-TW" altLang="en-US" smtClean="0"/>
              <a:t>2026/6/24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A2DDAA5F-5823-4876-3E35-555A8F716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B8329615-F641-1368-0686-E25B1A36B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CA10A-3F33-4FA4-811C-D529FB34610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37724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2A41176-09C8-2ECA-AA62-1B1AF54306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99CBC8A9-D1DC-5DA5-DB38-7656C67657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39463D38-0E75-7935-A17F-3A0C161972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6F7FADB-00CF-4733-88F0-767E906265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36010-91A8-424F-B3F7-43CBC600EA7E}" type="datetimeFigureOut">
              <a:rPr lang="zh-TW" altLang="en-US" smtClean="0"/>
              <a:t>2026/6/24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1836BAF-781B-F848-4F82-9A26F43361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6DF3F2CA-841C-B771-E0C7-087A1D026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CA10A-3F33-4FA4-811C-D529FB34610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765672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3D42FB8-0857-F476-FFF8-E383C425AA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94F17F14-4471-5992-1890-CD31A3AA9C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5CF2F8E-23EA-1EA4-5564-4CB895ADDE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36010-91A8-424F-B3F7-43CBC600EA7E}" type="datetimeFigureOut">
              <a:rPr lang="zh-TW" altLang="en-US" smtClean="0"/>
              <a:t>2026/6/24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5F70BC8-E22A-A872-79D3-3E0E9E034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26E4596-FB5E-9FA7-A562-233E057835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CA10A-3F33-4FA4-811C-D529FB34610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13054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3874FBD7-C9EC-6B38-34D6-78F1B85AFC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357C645E-9219-F5D5-6226-664C297C3A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6D73783-18CB-4237-C74C-BB7C1AB0A3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36010-91A8-424F-B3F7-43CBC600EA7E}" type="datetimeFigureOut">
              <a:rPr lang="zh-TW" altLang="en-US" smtClean="0"/>
              <a:t>2026/6/24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BCCE45E-F8CA-C8AA-E4FD-E5CD3D749C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7C78231-5AF0-5A9C-DBFF-D6C2D6955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CA10A-3F33-4FA4-811C-D529FB34610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861724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D1628160-003C-5F3E-84A9-E61EBEA19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35AB9D7-D012-3B6E-90F9-AF8CFA7291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9AFA45D-B8FC-F51E-D93A-79A1CE71EE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A36010-91A8-424F-B3F7-43CBC600EA7E}" type="datetimeFigureOut">
              <a:rPr lang="zh-TW" altLang="en-US" smtClean="0"/>
              <a:t>2026/6/24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5E3BE6C-E5B8-4CD6-3A8A-1B304B8C3F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29AE424-9FD0-6F39-FE22-0279F5FB59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6CA10A-3F33-4FA4-811C-D529FB34610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30696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77582FD-7B47-380C-6A56-C291083D3C8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/>
              <a:t>成大交接程式 </a:t>
            </a:r>
            <a:r>
              <a:rPr lang="en-US" altLang="zh-TW"/>
              <a:t>docker container </a:t>
            </a:r>
            <a:r>
              <a:rPr lang="zh-TW" altLang="en-US"/>
              <a:t>範例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5ADCBEE1-06C5-0358-C150-26308257DA2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842619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A0E39E-3466-87E9-A4AA-B4895E1154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24FA999F-3E75-2F79-7323-480BADC4ADCE}"/>
              </a:ext>
            </a:extLst>
          </p:cNvPr>
          <p:cNvSpPr/>
          <p:nvPr/>
        </p:nvSpPr>
        <p:spPr>
          <a:xfrm>
            <a:off x="521465" y="1564341"/>
            <a:ext cx="3171994" cy="663388"/>
          </a:xfrm>
          <a:prstGeom prst="rect">
            <a:avLst/>
          </a:prstGeom>
          <a:solidFill>
            <a:srgbClr val="ADD8E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zh-TW" altLang="en-US" sz="1400" b="1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輸入資料</a:t>
            </a:r>
            <a:endParaRPr lang="en-US" altLang="zh-TW" sz="1400" b="1">
              <a:solidFill>
                <a:schemeClr val="tx1"/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各鏡頭的</a:t>
            </a:r>
            <a:r>
              <a:rPr lang="en-US" altLang="zh-TW" sz="1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YOLO </a:t>
            </a:r>
            <a:r>
              <a:rPr lang="zh-TW" altLang="en-US" sz="1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物件框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8336585-B76C-CF8C-CCD9-FFECB5BB4FFC}"/>
              </a:ext>
            </a:extLst>
          </p:cNvPr>
          <p:cNvSpPr/>
          <p:nvPr/>
        </p:nvSpPr>
        <p:spPr>
          <a:xfrm>
            <a:off x="521465" y="2415988"/>
            <a:ext cx="3171994" cy="2026024"/>
          </a:xfrm>
          <a:prstGeom prst="rect">
            <a:avLst/>
          </a:prstGeom>
          <a:solidFill>
            <a:srgbClr val="FFC79A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zh-TW" altLang="en-US" sz="1400" b="1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輸出資料</a:t>
            </a:r>
            <a:endParaRPr lang="en-US" altLang="zh-TW" sz="1400" b="1">
              <a:solidFill>
                <a:schemeClr val="tx1"/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風險事件</a:t>
            </a:r>
            <a:endParaRPr lang="en-US" altLang="zh-TW" sz="1400">
              <a:solidFill>
                <a:schemeClr val="tx1"/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TW" altLang="en-US" sz="1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對應人</a:t>
            </a:r>
            <a:r>
              <a:rPr lang="en-US" altLang="zh-TW" sz="1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/</a:t>
            </a:r>
            <a:r>
              <a:rPr lang="zh-TW" altLang="en-US" sz="1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車</a:t>
            </a:r>
            <a:r>
              <a:rPr lang="en-US" altLang="zh-TW" sz="1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/</a:t>
            </a:r>
            <a:r>
              <a:rPr lang="zh-TW" altLang="en-US" sz="1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風險</a:t>
            </a:r>
            <a:r>
              <a:rPr lang="en-US" altLang="zh-TW" sz="1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/</a:t>
            </a:r>
            <a:r>
              <a:rPr lang="zh-TW" altLang="en-US" sz="1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距離</a:t>
            </a:r>
            <a:endParaRPr lang="en-US" altLang="zh-TW" sz="1400">
              <a:solidFill>
                <a:schemeClr val="tx1"/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物件追蹤資料</a:t>
            </a:r>
            <a:endParaRPr lang="en-US" altLang="zh-TW" sz="1400">
              <a:solidFill>
                <a:schemeClr val="tx1"/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TW" altLang="en-US" sz="1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當下移動方向速度</a:t>
            </a:r>
            <a:endParaRPr lang="en-US" altLang="zh-TW" sz="1400">
              <a:solidFill>
                <a:schemeClr val="tx1"/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TW" altLang="en-US" sz="1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歷史 </a:t>
            </a:r>
            <a:r>
              <a:rPr lang="en-US" altLang="zh-TW" sz="1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LfD </a:t>
            </a:r>
            <a:r>
              <a:rPr lang="zh-TW" altLang="en-US" sz="1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結果</a:t>
            </a:r>
            <a:endParaRPr lang="en-US" altLang="zh-TW" sz="1400">
              <a:solidFill>
                <a:schemeClr val="tx1"/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zh-TW" altLang="en-US" sz="1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使用到的鏡頭物件框</a:t>
            </a:r>
            <a:endParaRPr lang="en-US" altLang="zh-TW" sz="1400">
              <a:solidFill>
                <a:schemeClr val="tx1"/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zh-TW" altLang="en-US" sz="1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世界座標物件範圍</a:t>
            </a:r>
            <a:endParaRPr lang="en-US" altLang="zh-TW" sz="1400">
              <a:solidFill>
                <a:schemeClr val="tx1"/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zh-TW" altLang="en-US" sz="1400" b="1">
              <a:solidFill>
                <a:schemeClr val="tx1"/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pic>
        <p:nvPicPr>
          <p:cNvPr id="17" name="圖片 16">
            <a:extLst>
              <a:ext uri="{FF2B5EF4-FFF2-40B4-BE49-F238E27FC236}">
                <a16:creationId xmlns:a16="http://schemas.microsoft.com/office/drawing/2014/main" id="{E5F72465-860E-F56B-BD06-96276C25C6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5280" y="103095"/>
            <a:ext cx="6486525" cy="6553200"/>
          </a:xfrm>
          <a:prstGeom prst="rect">
            <a:avLst/>
          </a:prstGeom>
        </p:spPr>
      </p:pic>
      <p:sp>
        <p:nvSpPr>
          <p:cNvPr id="18" name="矩形 17">
            <a:extLst>
              <a:ext uri="{FF2B5EF4-FFF2-40B4-BE49-F238E27FC236}">
                <a16:creationId xmlns:a16="http://schemas.microsoft.com/office/drawing/2014/main" id="{9C227013-73FC-6B6F-43F2-1B9996FC5E6F}"/>
              </a:ext>
            </a:extLst>
          </p:cNvPr>
          <p:cNvSpPr/>
          <p:nvPr/>
        </p:nvSpPr>
        <p:spPr>
          <a:xfrm>
            <a:off x="521465" y="367553"/>
            <a:ext cx="3171994" cy="8157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zh-TW" altLang="en-US" sz="2000" b="1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成大產學交接 </a:t>
            </a:r>
            <a:r>
              <a:rPr lang="en-US" altLang="zh-TW" sz="2000" b="1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API Spec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TW" altLang="en-US" sz="1400">
              <a:solidFill>
                <a:schemeClr val="tx1"/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53A162F-A4CA-5708-ED80-B1C0FE4B0DDC}"/>
              </a:ext>
            </a:extLst>
          </p:cNvPr>
          <p:cNvSpPr/>
          <p:nvPr/>
        </p:nvSpPr>
        <p:spPr>
          <a:xfrm>
            <a:off x="521465" y="4630271"/>
            <a:ext cx="3171994" cy="20260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zh-TW" altLang="en-US" sz="1400" b="1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範例程式需求</a:t>
            </a:r>
            <a:endParaRPr lang="en-US" altLang="zh-TW" sz="1400" b="1">
              <a:solidFill>
                <a:schemeClr val="tx1"/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Python 3.9:</a:t>
            </a:r>
            <a:r>
              <a:rPr lang="zh-TW" altLang="en-US" sz="1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成大開發環境</a:t>
            </a:r>
            <a:endParaRPr lang="en-US" altLang="zh-TW" sz="1400">
              <a:solidFill>
                <a:schemeClr val="tx1"/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FastAPI:</a:t>
            </a:r>
            <a:r>
              <a:rPr lang="zh-TW" altLang="en-US" sz="1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建立 </a:t>
            </a:r>
            <a:r>
              <a:rPr lang="en-US" altLang="zh-TW" sz="1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Restful API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Uvicorn: </a:t>
            </a:r>
            <a:r>
              <a:rPr lang="zh-TW" altLang="en-US" sz="1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建立 </a:t>
            </a:r>
            <a:r>
              <a:rPr lang="en-US" altLang="zh-TW" sz="1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ASGI Web Server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Pydantic:</a:t>
            </a:r>
            <a:r>
              <a:rPr lang="zh-TW" altLang="en-US" sz="1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資料驗證</a:t>
            </a:r>
            <a:endParaRPr lang="en-US" altLang="zh-TW" sz="1400">
              <a:solidFill>
                <a:schemeClr val="tx1"/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其他成大使用套件不在此範例內</a:t>
            </a:r>
          </a:p>
        </p:txBody>
      </p:sp>
    </p:spTree>
    <p:extLst>
      <p:ext uri="{BB962C8B-B14F-4D97-AF65-F5344CB8AC3E}">
        <p14:creationId xmlns:p14="http://schemas.microsoft.com/office/powerpoint/2010/main" val="1470086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圖片 23">
            <a:extLst>
              <a:ext uri="{FF2B5EF4-FFF2-40B4-BE49-F238E27FC236}">
                <a16:creationId xmlns:a16="http://schemas.microsoft.com/office/drawing/2014/main" id="{FA289D32-66AD-F510-A6AC-709CDB4384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4782" y="1622611"/>
            <a:ext cx="6182066" cy="4727462"/>
          </a:xfrm>
          <a:prstGeom prst="rect">
            <a:avLst/>
          </a:prstGeom>
        </p:spPr>
      </p:pic>
      <p:sp>
        <p:nvSpPr>
          <p:cNvPr id="18" name="矩形 17">
            <a:extLst>
              <a:ext uri="{FF2B5EF4-FFF2-40B4-BE49-F238E27FC236}">
                <a16:creationId xmlns:a16="http://schemas.microsoft.com/office/drawing/2014/main" id="{B066B85F-E3C6-D078-ACDB-D437E320BE60}"/>
              </a:ext>
            </a:extLst>
          </p:cNvPr>
          <p:cNvSpPr/>
          <p:nvPr/>
        </p:nvSpPr>
        <p:spPr>
          <a:xfrm>
            <a:off x="521465" y="367553"/>
            <a:ext cx="3171994" cy="8157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zh-TW" sz="2000" b="1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Docker Image </a:t>
            </a:r>
            <a:r>
              <a:rPr lang="zh-TW" altLang="en-US" sz="2000" b="1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打包</a:t>
            </a:r>
            <a:endParaRPr lang="zh-TW" altLang="en-US" sz="1400">
              <a:solidFill>
                <a:schemeClr val="tx1"/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C2F7BE1-2966-7B3A-07F6-19D705CF1759}"/>
              </a:ext>
            </a:extLst>
          </p:cNvPr>
          <p:cNvSpPr/>
          <p:nvPr/>
        </p:nvSpPr>
        <p:spPr>
          <a:xfrm>
            <a:off x="466327" y="2127819"/>
            <a:ext cx="7080605" cy="284254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範例程式基底為 </a:t>
            </a:r>
            <a:r>
              <a:rPr lang="en-US" altLang="zh-TW" sz="1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python 3.9 </a:t>
            </a:r>
            <a:r>
              <a:rPr lang="zh-TW" altLang="en-US" sz="1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</a:t>
            </a:r>
            <a:br>
              <a:rPr lang="en-US" altLang="zh-TW" sz="1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</a:br>
            <a:r>
              <a:rPr lang="zh-TW" altLang="en-US" sz="1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需要先從 </a:t>
            </a:r>
            <a:r>
              <a:rPr lang="en-US" altLang="zh-TW" sz="1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docker hub pull python 3.9-slim(</a:t>
            </a:r>
            <a:r>
              <a:rPr lang="zh-TW" altLang="en-US" sz="1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輕量化版本</a:t>
            </a:r>
            <a:r>
              <a:rPr lang="en-US" altLang="zh-TW" sz="1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)</a:t>
            </a:r>
            <a:br>
              <a:rPr lang="en-US" altLang="zh-TW" sz="1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</a:br>
            <a:r>
              <a:rPr lang="zh-TW" altLang="en-US" sz="1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公司網路不先做這步無法打包</a:t>
            </a:r>
            <a:br>
              <a:rPr lang="en-US" altLang="zh-TW" sz="1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</a:br>
            <a:r>
              <a:rPr lang="en-US" altLang="zh-TW" sz="1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&gt; docker pull python:3.9-slim</a:t>
            </a:r>
          </a:p>
          <a:p>
            <a:endParaRPr lang="en-US" altLang="zh-TW" sz="1400">
              <a:solidFill>
                <a:schemeClr val="tx1"/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開始打包</a:t>
            </a:r>
            <a:r>
              <a:rPr lang="en-US" altLang="zh-TW" sz="1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:</a:t>
            </a:r>
            <a:r>
              <a:rPr lang="zh-TW" altLang="en-US" sz="1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不使用快取</a:t>
            </a:r>
            <a:br>
              <a:rPr lang="en-US" altLang="zh-TW" sz="1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</a:br>
            <a:r>
              <a:rPr lang="en-US" altLang="zh-TW" sz="1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&gt; docker build --no-cache -t &lt;Image </a:t>
            </a:r>
            <a:r>
              <a:rPr lang="zh-TW" altLang="en-US" sz="1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名稱</a:t>
            </a:r>
            <a:r>
              <a:rPr lang="en-US" altLang="zh-TW" sz="1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&gt; &lt;</a:t>
            </a:r>
            <a:r>
              <a:rPr lang="zh-TW" altLang="en-US" sz="1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來源資料夾</a:t>
            </a:r>
            <a:r>
              <a:rPr lang="en-US" altLang="zh-TW" sz="1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&gt;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&gt; docker build --no-cache -t ncku-api-example 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TW" sz="1400">
              <a:solidFill>
                <a:schemeClr val="tx1"/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輸出成 </a:t>
            </a:r>
            <a:r>
              <a:rPr lang="en-US" altLang="zh-TW" sz="1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tar</a:t>
            </a:r>
            <a:r>
              <a:rPr lang="zh-TW" altLang="en-US" sz="1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檔案</a:t>
            </a:r>
            <a:r>
              <a:rPr lang="en-US" altLang="zh-TW" sz="1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(</a:t>
            </a:r>
            <a:r>
              <a:rPr lang="zh-TW" altLang="en-US" sz="1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因 </a:t>
            </a:r>
            <a:r>
              <a:rPr lang="en-US" altLang="zh-TW" sz="1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server </a:t>
            </a:r>
            <a:r>
              <a:rPr lang="zh-TW" altLang="en-US" sz="1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無法連外網</a:t>
            </a:r>
            <a:r>
              <a:rPr lang="en-US" altLang="zh-TW" sz="1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)</a:t>
            </a:r>
            <a:br>
              <a:rPr lang="en-US" altLang="zh-TW" sz="1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</a:br>
            <a:r>
              <a:rPr lang="en-US" altLang="zh-TW" sz="1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&gt; docker save -o &lt;tar </a:t>
            </a:r>
            <a:r>
              <a:rPr lang="zh-TW" altLang="en-US" sz="1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檔名</a:t>
            </a:r>
            <a:r>
              <a:rPr lang="en-US" altLang="zh-TW" sz="1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&gt;</a:t>
            </a:r>
            <a:r>
              <a:rPr lang="zh-TW" altLang="en-US" sz="1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</a:t>
            </a:r>
            <a:r>
              <a:rPr lang="en-US" altLang="zh-TW" sz="1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&lt;Image </a:t>
            </a:r>
            <a:r>
              <a:rPr lang="zh-TW" altLang="en-US" sz="1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名稱</a:t>
            </a:r>
            <a:r>
              <a:rPr lang="en-US" altLang="zh-TW" sz="1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&gt;</a:t>
            </a:r>
            <a:br>
              <a:rPr lang="en-US" altLang="zh-TW" sz="1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</a:br>
            <a:r>
              <a:rPr lang="en-US" altLang="zh-TW" sz="1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&gt;</a:t>
            </a:r>
            <a:r>
              <a:rPr lang="zh-TW" altLang="en-US" sz="1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</a:t>
            </a:r>
            <a:r>
              <a:rPr lang="en-US" altLang="zh-TW" sz="1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docker save -o ncku-api-example.tar</a:t>
            </a:r>
            <a:r>
              <a:rPr lang="zh-TW" altLang="en-US" sz="1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</a:t>
            </a:r>
            <a:r>
              <a:rPr lang="en-US" altLang="zh-TW" sz="1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ncku-api-example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TW" sz="1400">
              <a:solidFill>
                <a:schemeClr val="tx1"/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pic>
        <p:nvPicPr>
          <p:cNvPr id="22" name="圖片 21">
            <a:extLst>
              <a:ext uri="{FF2B5EF4-FFF2-40B4-BE49-F238E27FC236}">
                <a16:creationId xmlns:a16="http://schemas.microsoft.com/office/drawing/2014/main" id="{10D1C26A-320D-87D1-8FA4-AE6E25DA13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9083" y="3906945"/>
            <a:ext cx="2281247" cy="809954"/>
          </a:xfrm>
          <a:prstGeom prst="rect">
            <a:avLst/>
          </a:prstGeom>
          <a:ln>
            <a:solidFill>
              <a:srgbClr val="F6F6F6"/>
            </a:solidFill>
          </a:ln>
        </p:spPr>
      </p:pic>
      <p:sp>
        <p:nvSpPr>
          <p:cNvPr id="25" name="矩形 24">
            <a:extLst>
              <a:ext uri="{FF2B5EF4-FFF2-40B4-BE49-F238E27FC236}">
                <a16:creationId xmlns:a16="http://schemas.microsoft.com/office/drawing/2014/main" id="{FFEFD8F4-7BA5-3959-3958-AEA489BA2F89}"/>
              </a:ext>
            </a:extLst>
          </p:cNvPr>
          <p:cNvSpPr/>
          <p:nvPr/>
        </p:nvSpPr>
        <p:spPr>
          <a:xfrm>
            <a:off x="9643326" y="3549090"/>
            <a:ext cx="1352157" cy="28853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zh-TW" altLang="en-US" sz="1400">
                <a:solidFill>
                  <a:schemeClr val="bg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需求套件</a:t>
            </a:r>
          </a:p>
        </p:txBody>
      </p:sp>
    </p:spTree>
    <p:extLst>
      <p:ext uri="{BB962C8B-B14F-4D97-AF65-F5344CB8AC3E}">
        <p14:creationId xmlns:p14="http://schemas.microsoft.com/office/powerpoint/2010/main" val="12153956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BA4D96-EFD3-ABA4-CF55-CE0DE07398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圖片 23">
            <a:extLst>
              <a:ext uri="{FF2B5EF4-FFF2-40B4-BE49-F238E27FC236}">
                <a16:creationId xmlns:a16="http://schemas.microsoft.com/office/drawing/2014/main" id="{4A491BEC-09DE-8638-A47B-AEA0ECA3D0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4782" y="1622611"/>
            <a:ext cx="6182066" cy="4727462"/>
          </a:xfrm>
          <a:prstGeom prst="rect">
            <a:avLst/>
          </a:prstGeom>
        </p:spPr>
      </p:pic>
      <p:sp>
        <p:nvSpPr>
          <p:cNvPr id="18" name="矩形 17">
            <a:extLst>
              <a:ext uri="{FF2B5EF4-FFF2-40B4-BE49-F238E27FC236}">
                <a16:creationId xmlns:a16="http://schemas.microsoft.com/office/drawing/2014/main" id="{0D29194C-F0CD-B8C7-5F5E-2D20575F6EC6}"/>
              </a:ext>
            </a:extLst>
          </p:cNvPr>
          <p:cNvSpPr/>
          <p:nvPr/>
        </p:nvSpPr>
        <p:spPr>
          <a:xfrm>
            <a:off x="521465" y="367553"/>
            <a:ext cx="3171994" cy="8157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zh-TW" sz="2000" b="1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Docker Container </a:t>
            </a:r>
            <a:r>
              <a:rPr lang="zh-TW" altLang="en-US" sz="2000" b="1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啟用</a:t>
            </a:r>
            <a:endParaRPr lang="zh-TW" altLang="en-US" sz="1400">
              <a:solidFill>
                <a:schemeClr val="tx1"/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318E2DB-5673-DF44-B210-A48E84906A16}"/>
              </a:ext>
            </a:extLst>
          </p:cNvPr>
          <p:cNvSpPr/>
          <p:nvPr/>
        </p:nvSpPr>
        <p:spPr>
          <a:xfrm>
            <a:off x="466328" y="2127819"/>
            <a:ext cx="5038002" cy="284254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載入 </a:t>
            </a:r>
            <a:r>
              <a:rPr lang="en-US" altLang="zh-TW" sz="1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tar </a:t>
            </a:r>
            <a:r>
              <a:rPr lang="zh-TW" altLang="en-US" sz="1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檔</a:t>
            </a:r>
            <a:br>
              <a:rPr lang="en-US" altLang="zh-TW" sz="1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</a:br>
            <a:r>
              <a:rPr lang="en-US" altLang="zh-TW" sz="1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&gt; docker pull python:3.9-slim</a:t>
            </a:r>
          </a:p>
          <a:p>
            <a:endParaRPr lang="en-US" altLang="zh-TW" sz="1400">
              <a:solidFill>
                <a:schemeClr val="tx1"/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開始打包</a:t>
            </a:r>
            <a:r>
              <a:rPr lang="en-US" altLang="zh-TW" sz="1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:</a:t>
            </a:r>
            <a:r>
              <a:rPr lang="zh-TW" altLang="en-US" sz="1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不使用快取</a:t>
            </a:r>
            <a:br>
              <a:rPr lang="en-US" altLang="zh-TW" sz="1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</a:br>
            <a:r>
              <a:rPr lang="en-US" altLang="zh-TW" sz="1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&gt; docker build --no-cache -t &lt;Image </a:t>
            </a:r>
            <a:r>
              <a:rPr lang="zh-TW" altLang="en-US" sz="1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名稱</a:t>
            </a:r>
            <a:r>
              <a:rPr lang="en-US" altLang="zh-TW" sz="1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&gt; &lt;</a:t>
            </a:r>
            <a:r>
              <a:rPr lang="zh-TW" altLang="en-US" sz="1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來源資料夾</a:t>
            </a:r>
            <a:r>
              <a:rPr lang="en-US" altLang="zh-TW" sz="1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&gt;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&gt; docker build --no-cache -t ncku-api-example 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TW" sz="1400">
              <a:solidFill>
                <a:schemeClr val="tx1"/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輸出成 </a:t>
            </a:r>
            <a:r>
              <a:rPr lang="en-US" altLang="zh-TW" sz="1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tar</a:t>
            </a:r>
            <a:r>
              <a:rPr lang="zh-TW" altLang="en-US" sz="1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檔案</a:t>
            </a:r>
            <a:r>
              <a:rPr lang="en-US" altLang="zh-TW" sz="1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(</a:t>
            </a:r>
            <a:r>
              <a:rPr lang="zh-TW" altLang="en-US" sz="1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因 </a:t>
            </a:r>
            <a:r>
              <a:rPr lang="en-US" altLang="zh-TW" sz="1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server </a:t>
            </a:r>
            <a:r>
              <a:rPr lang="zh-TW" altLang="en-US" sz="1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無法連外網</a:t>
            </a:r>
            <a:r>
              <a:rPr lang="en-US" altLang="zh-TW" sz="1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)</a:t>
            </a:r>
            <a:br>
              <a:rPr lang="en-US" altLang="zh-TW" sz="1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</a:br>
            <a:r>
              <a:rPr lang="en-US" altLang="zh-TW" sz="1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&gt; docker save -o &lt;tar </a:t>
            </a:r>
            <a:r>
              <a:rPr lang="zh-TW" altLang="en-US" sz="1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檔名</a:t>
            </a:r>
            <a:r>
              <a:rPr lang="en-US" altLang="zh-TW" sz="1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&gt;</a:t>
            </a:r>
            <a:r>
              <a:rPr lang="zh-TW" altLang="en-US" sz="1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</a:t>
            </a:r>
            <a:r>
              <a:rPr lang="en-US" altLang="zh-TW" sz="1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&lt;Image </a:t>
            </a:r>
            <a:r>
              <a:rPr lang="zh-TW" altLang="en-US" sz="1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名稱</a:t>
            </a:r>
            <a:r>
              <a:rPr lang="en-US" altLang="zh-TW" sz="1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&gt;</a:t>
            </a:r>
            <a:br>
              <a:rPr lang="en-US" altLang="zh-TW" sz="1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</a:br>
            <a:r>
              <a:rPr lang="en-US" altLang="zh-TW" sz="1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&gt;</a:t>
            </a:r>
            <a:r>
              <a:rPr lang="zh-TW" altLang="en-US" sz="1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</a:t>
            </a:r>
            <a:r>
              <a:rPr lang="en-US" altLang="zh-TW" sz="1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docker save -o ncku-api-example.tar</a:t>
            </a:r>
            <a:r>
              <a:rPr lang="zh-TW" altLang="en-US" sz="1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</a:t>
            </a:r>
            <a:r>
              <a:rPr lang="en-US" altLang="zh-TW" sz="1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ncku-api-example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TW" sz="1400">
              <a:solidFill>
                <a:schemeClr val="tx1"/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pic>
        <p:nvPicPr>
          <p:cNvPr id="22" name="圖片 21">
            <a:extLst>
              <a:ext uri="{FF2B5EF4-FFF2-40B4-BE49-F238E27FC236}">
                <a16:creationId xmlns:a16="http://schemas.microsoft.com/office/drawing/2014/main" id="{42490AD3-0F87-488E-4696-B3B57D06FD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9083" y="3906945"/>
            <a:ext cx="2281247" cy="809954"/>
          </a:xfrm>
          <a:prstGeom prst="rect">
            <a:avLst/>
          </a:prstGeom>
          <a:ln>
            <a:solidFill>
              <a:srgbClr val="F6F6F6"/>
            </a:solidFill>
          </a:ln>
        </p:spPr>
      </p:pic>
      <p:sp>
        <p:nvSpPr>
          <p:cNvPr id="25" name="矩形 24">
            <a:extLst>
              <a:ext uri="{FF2B5EF4-FFF2-40B4-BE49-F238E27FC236}">
                <a16:creationId xmlns:a16="http://schemas.microsoft.com/office/drawing/2014/main" id="{CCAA138B-A4A3-4773-CFA1-C45FD7DD3362}"/>
              </a:ext>
            </a:extLst>
          </p:cNvPr>
          <p:cNvSpPr/>
          <p:nvPr/>
        </p:nvSpPr>
        <p:spPr>
          <a:xfrm>
            <a:off x="9643326" y="3549090"/>
            <a:ext cx="1352157" cy="28853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zh-TW" altLang="en-US" sz="1400">
                <a:solidFill>
                  <a:schemeClr val="bg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需求套件</a:t>
            </a:r>
          </a:p>
        </p:txBody>
      </p:sp>
    </p:spTree>
    <p:extLst>
      <p:ext uri="{BB962C8B-B14F-4D97-AF65-F5344CB8AC3E}">
        <p14:creationId xmlns:p14="http://schemas.microsoft.com/office/powerpoint/2010/main" val="23530123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279</Words>
  <Application>Microsoft Office PowerPoint</Application>
  <PresentationFormat>寬螢幕</PresentationFormat>
  <Paragraphs>34</Paragraphs>
  <Slides>4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佈景主題</vt:lpstr>
      <vt:lpstr>成大交接程式 docker container 範例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柏龍 陳</dc:creator>
  <cp:lastModifiedBy>柏龍 陳</cp:lastModifiedBy>
  <cp:revision>15</cp:revision>
  <dcterms:created xsi:type="dcterms:W3CDTF">2026-06-23T16:06:52Z</dcterms:created>
  <dcterms:modified xsi:type="dcterms:W3CDTF">2026-06-23T17:40:45Z</dcterms:modified>
</cp:coreProperties>
</file>